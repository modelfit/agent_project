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9BE609-973C-4462-BAD3-828921FD5229}" v="137" dt="2026-05-14T12:26:40.8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C672ED7A-55B8-46C7-AEEF-717DAA853DD4}" type="datetimeFigureOut">
              <a:t>28/11/1447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F099CD01-23D8-4351-B4CB-CB669BCA92CC}" type="slidenum"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9517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0" y="731520"/>
            <a:ext cx="1463040" cy="731520"/>
          </a:xfrm>
          <a:prstGeom prst="triangle">
            <a:avLst/>
          </a:prstGeom>
          <a:solidFill>
            <a:srgbClr val="4285F4"/>
          </a:solidFill>
          <a:ln/>
        </p:spPr>
      </p:sp>
      <p:sp>
        <p:nvSpPr>
          <p:cNvPr id="20" name="Shape 18"/>
          <p:cNvSpPr/>
          <p:nvPr/>
        </p:nvSpPr>
        <p:spPr>
          <a:xfrm rot="5400000">
            <a:off x="4572000" y="731520"/>
            <a:ext cx="731520" cy="1463040"/>
          </a:xfrm>
          <a:prstGeom prst="triangle">
            <a:avLst/>
          </a:prstGeom>
          <a:solidFill>
            <a:srgbClr val="34A853"/>
          </a:solidFill>
          <a:ln/>
        </p:spPr>
      </p:sp>
      <p:sp>
        <p:nvSpPr>
          <p:cNvPr id="21" name="Shape 19"/>
          <p:cNvSpPr/>
          <p:nvPr/>
        </p:nvSpPr>
        <p:spPr>
          <a:xfrm rot="10800000">
            <a:off x="3840480" y="1463040"/>
            <a:ext cx="1463040" cy="731520"/>
          </a:xfrm>
          <a:prstGeom prst="triangle">
            <a:avLst/>
          </a:prstGeom>
          <a:solidFill>
            <a:srgbClr val="FBBC04"/>
          </a:solidFill>
          <a:ln/>
        </p:spPr>
      </p:sp>
      <p:sp>
        <p:nvSpPr>
          <p:cNvPr id="22" name="Shape 20"/>
          <p:cNvSpPr/>
          <p:nvPr/>
        </p:nvSpPr>
        <p:spPr>
          <a:xfrm rot="16200000">
            <a:off x="3840480" y="731520"/>
            <a:ext cx="731520" cy="1463040"/>
          </a:xfrm>
          <a:prstGeom prst="triangle">
            <a:avLst/>
          </a:prstGeom>
          <a:solidFill>
            <a:srgbClr val="EA433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kern="0" spc="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ساعد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kern="0" spc="300" dirty="0">
                <a:solidFill>
                  <a:srgbClr val="8AB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Arabic AI Agent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457200" y="3822192"/>
            <a:ext cx="2125980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0" y="3822192"/>
            <a:ext cx="2125980" cy="365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7" name="Shape 25"/>
          <p:cNvSpPr/>
          <p:nvPr/>
        </p:nvSpPr>
        <p:spPr>
          <a:xfrm>
            <a:off x="5029200" y="3822192"/>
            <a:ext cx="2125980" cy="3657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28" name="Shape 26"/>
          <p:cNvSpPr/>
          <p:nvPr/>
        </p:nvSpPr>
        <p:spPr>
          <a:xfrm>
            <a:off x="6984332" y="3822192"/>
            <a:ext cx="2125980" cy="3657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3822192"/>
            <a:ext cx="1645920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0" name="Shape 28"/>
          <p:cNvSpPr/>
          <p:nvPr/>
        </p:nvSpPr>
        <p:spPr>
          <a:xfrm>
            <a:off x="2550695" y="3822192"/>
            <a:ext cx="1645920" cy="365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1" name="Shape 29"/>
          <p:cNvSpPr/>
          <p:nvPr/>
        </p:nvSpPr>
        <p:spPr>
          <a:xfrm>
            <a:off x="4610100" y="3822192"/>
            <a:ext cx="1645920" cy="3657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Google ADK · OpenRouter · Supabase · IBM Granite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rgbClr val="9AA0A6"/>
                </a:solidFill>
                <a:latin typeface="Calibri"/>
                <a:ea typeface="Calibri"/>
                <a:cs typeface="Calibri"/>
              </a:rPr>
              <a:t>Hashim Alhasani   ·   Abdullah Alqahtani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Problem &amp; Motivation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292608"/>
            <a:ext cx="109728" cy="10972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3474720"/>
          </a:xfrm>
          <a:prstGeom prst="rect">
            <a:avLst/>
          </a:prstGeom>
          <a:solidFill>
            <a:srgbClr val="282A2C"/>
          </a:solidFill>
          <a:ln w="6350">
            <a:solidFill>
              <a:srgbClr val="2A2D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34747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74904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AI labs focus on English-first agents. Arabic users — 400M+ speakers — are underserved in productivity tools, especially tools that understand Islamic calendar, prayer times, and cultural context.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4023360" cy="3474720"/>
          </a:xfrm>
          <a:prstGeom prst="rect">
            <a:avLst/>
          </a:prstGeom>
          <a:solidFill>
            <a:srgbClr val="282A2C"/>
          </a:solidFill>
          <a:ln w="6350">
            <a:solidFill>
              <a:srgbClr val="2A2D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05840"/>
            <a:ext cx="54864" cy="34747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74904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ساعد is an Arabic-first agent built for the Muslim community. Every tool — from Hijri conversion to prayer times — is designed around the user's daily life, not adapted from an English baseline.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4663440"/>
            <a:ext cx="2560320" cy="365760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681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A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400M+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46817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speakers worldwide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4663440"/>
            <a:ext cx="2560320" cy="365760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4681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A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34840" y="46817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Arabic productivity agents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4663440"/>
            <a:ext cx="2560320" cy="365760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4681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8A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69480" y="46817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built for ساعد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 Level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292608"/>
            <a:ext cx="109728" cy="10972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566928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914400"/>
            <a:ext cx="8092440" cy="566928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960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LLM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21615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API · GPT-4.1 Mini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17720" y="1481328"/>
            <a:ext cx="0" cy="256032"/>
          </a:xfrm>
          <a:prstGeom prst="line">
            <a:avLst/>
          </a:prstGeom>
          <a:noFill/>
          <a:ln w="12700">
            <a:solidFill>
              <a:srgbClr val="2A2D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44568" y="1709928"/>
            <a:ext cx="146304" cy="91440"/>
          </a:xfrm>
          <a:prstGeom prst="triangle">
            <a:avLst/>
          </a:prstGeom>
          <a:solidFill>
            <a:srgbClr val="2A2D3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37360"/>
            <a:ext cx="54864" cy="566928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737360"/>
            <a:ext cx="8092440" cy="566928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Embedding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03911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Granite 278M · Intel i7 CPU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2304288"/>
            <a:ext cx="0" cy="256032"/>
          </a:xfrm>
          <a:prstGeom prst="line">
            <a:avLst/>
          </a:prstGeom>
          <a:noFill/>
          <a:ln w="12700">
            <a:solidFill>
              <a:srgbClr val="2A2D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44568" y="2532888"/>
            <a:ext cx="146304" cy="91440"/>
          </a:xfrm>
          <a:prstGeom prst="triangle">
            <a:avLst/>
          </a:prstGeom>
          <a:solidFill>
            <a:srgbClr val="2A2D30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560320"/>
            <a:ext cx="54864" cy="566928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560320"/>
            <a:ext cx="8092440" cy="566928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286207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 + pgvector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3127248"/>
            <a:ext cx="0" cy="256032"/>
          </a:xfrm>
          <a:prstGeom prst="line">
            <a:avLst/>
          </a:prstGeom>
          <a:noFill/>
          <a:ln w="12700">
            <a:solidFill>
              <a:srgbClr val="2A2D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44568" y="3355848"/>
            <a:ext cx="146304" cy="91440"/>
          </a:xfrm>
          <a:prstGeom prst="triangle">
            <a:avLst/>
          </a:prstGeom>
          <a:solidFill>
            <a:srgbClr val="2A2D30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383280"/>
            <a:ext cx="54864" cy="566928"/>
          </a:xfrm>
          <a:prstGeom prst="rect">
            <a:avLst/>
          </a:prstGeom>
          <a:solidFill>
            <a:srgbClr val="9AA0A6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" y="3383280"/>
            <a:ext cx="8092440" cy="566928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368503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 · session · routing · RAG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17720" y="3950208"/>
            <a:ext cx="0" cy="256032"/>
          </a:xfrm>
          <a:prstGeom prst="line">
            <a:avLst/>
          </a:prstGeom>
          <a:noFill/>
          <a:ln w="12700">
            <a:solidFill>
              <a:srgbClr val="2A2D3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44568" y="4178808"/>
            <a:ext cx="146304" cy="91440"/>
          </a:xfrm>
          <a:prstGeom prst="triangle">
            <a:avLst/>
          </a:prstGeom>
          <a:solidFill>
            <a:srgbClr val="2A2D30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4114800"/>
            <a:ext cx="54864" cy="566928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4114800"/>
            <a:ext cx="8092440" cy="566928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— on-premise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441655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tools · calculator · prayer · hijri · email · RAG · search…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Selection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292608"/>
            <a:ext cx="109728" cy="10972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4206240" cy="3840480"/>
          </a:xfrm>
          <a:prstGeom prst="rect">
            <a:avLst/>
          </a:prstGeom>
          <a:solidFill>
            <a:srgbClr val="282A2C"/>
          </a:solidFill>
          <a:ln w="6350">
            <a:solidFill>
              <a:srgbClr val="2A2D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206240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A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GPT-4.1 Mini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OpenRouter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468880"/>
            <a:ext cx="91440" cy="9144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404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understanding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926080"/>
            <a:ext cx="91440" cy="9144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862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accuracy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383280"/>
            <a:ext cx="91440" cy="9144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19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pricing efficiency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840480"/>
            <a:ext cx="91440" cy="91440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776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speed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Evaluated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1325880"/>
            <a:ext cx="3749040" cy="640080"/>
          </a:xfrm>
          <a:prstGeom prst="rect">
            <a:avLst/>
          </a:prstGeom>
          <a:solidFill>
            <a:srgbClr val="4285F4"/>
          </a:solidFill>
          <a:ln w="6350">
            <a:solidFill>
              <a:srgbClr val="2A2D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1325880"/>
            <a:ext cx="45720" cy="6400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141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 Mini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63840" y="1417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A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2103120"/>
            <a:ext cx="3749040" cy="640080"/>
          </a:xfrm>
          <a:prstGeom prst="rect">
            <a:avLst/>
          </a:prstGeom>
          <a:solidFill>
            <a:srgbClr val="282A2C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2194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3.5 Flash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63840" y="21945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2880360"/>
            <a:ext cx="3749040" cy="640080"/>
          </a:xfrm>
          <a:prstGeom prst="rect">
            <a:avLst/>
          </a:prstGeom>
          <a:solidFill>
            <a:srgbClr val="282A2C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971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3.5 Plus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63840" y="29718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3657600"/>
            <a:ext cx="3749040" cy="640080"/>
          </a:xfrm>
          <a:prstGeom prst="rect">
            <a:avLst/>
          </a:prstGeom>
          <a:solidFill>
            <a:srgbClr val="282A2C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749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863840" y="37490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Embedding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292608"/>
            <a:ext cx="109728" cy="10972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solidFill>
            <a:srgbClr val="282A2C"/>
          </a:solidFill>
          <a:ln w="6350">
            <a:solidFill>
              <a:srgbClr val="2A2D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241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IBM Granite Embedding 278M Multilingual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ibm-granite/granite-embedding-278m-multilingual  ·  HuggingFace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1508760" cy="1005840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7860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4A8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768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9992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21408" y="2468880"/>
            <a:ext cx="1508760" cy="1005840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21408" y="257860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4A8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278M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21408" y="29992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85616" y="2468880"/>
            <a:ext cx="1508760" cy="1005840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85616" y="257860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4A8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85616" y="29992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49824" y="2468880"/>
            <a:ext cx="1508760" cy="1005840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9824" y="257860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4A8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Local CPU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49824" y="29992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468880"/>
            <a:ext cx="1508760" cy="1005840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14032" y="257860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34A8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Zero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14032" y="29992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model?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" y="4005072"/>
            <a:ext cx="73152" cy="7315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5020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training covers Arabic natively — no transliteration or romanization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" y="4261104"/>
            <a:ext cx="73152" cy="7315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420624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enough to run on Intel i7 integrated GPU at inference time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5488" y="4517136"/>
            <a:ext cx="73152" cy="7315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" y="446227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instance loaded once in memory, used by both RAG and Memory modules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5488" y="4773168"/>
            <a:ext cx="73152" cy="7315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" y="471830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Thread-locked to prevent concurrent embedding corruption during rapid messaging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Database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292608"/>
            <a:ext cx="109728" cy="10972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 + pgvector  ·  Free tier  ·  Cloud hosted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51760" cy="3657600"/>
          </a:xfrm>
          <a:prstGeom prst="rect">
            <a:avLst/>
          </a:prstGeom>
          <a:solidFill>
            <a:srgbClr val="282A2C"/>
          </a:solidFill>
          <a:ln w="6350">
            <a:solidFill>
              <a:srgbClr val="2A2D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2651760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618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file chunks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2468880" cy="329184"/>
          </a:xfrm>
          <a:prstGeom prst="rect">
            <a:avLst/>
          </a:prstGeom>
          <a:solidFill>
            <a:srgbClr val="1A1B1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933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UUID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368296"/>
            <a:ext cx="2468880" cy="329184"/>
          </a:xfrm>
          <a:prstGeom prst="rect">
            <a:avLst/>
          </a:prstGeom>
          <a:solidFill>
            <a:srgbClr val="13131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957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filename text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770632"/>
            <a:ext cx="2468880" cy="329184"/>
          </a:xfrm>
          <a:prstGeom prst="rect">
            <a:avLst/>
          </a:prstGeom>
          <a:solidFill>
            <a:srgbClr val="1A1B1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9806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text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172968"/>
            <a:ext cx="2468880" cy="329184"/>
          </a:xfrm>
          <a:prstGeom prst="rect">
            <a:avLst/>
          </a:prstGeom>
          <a:solidFill>
            <a:srgbClr val="13131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004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 vector(768)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575304"/>
            <a:ext cx="2468880" cy="329184"/>
          </a:xfrm>
          <a:prstGeom prst="rect">
            <a:avLst/>
          </a:prstGeom>
          <a:solidFill>
            <a:srgbClr val="1A1B1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027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 timestamp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37560" y="1143000"/>
            <a:ext cx="2651760" cy="3657600"/>
          </a:xfrm>
          <a:prstGeom prst="rect">
            <a:avLst/>
          </a:prstGeom>
          <a:solidFill>
            <a:srgbClr val="282A2C"/>
          </a:solidFill>
          <a:ln w="6350">
            <a:solidFill>
              <a:srgbClr val="2A2D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37560" y="1143000"/>
            <a:ext cx="2651760" cy="457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12618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chat_memory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29000" y="16002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29000" y="1965960"/>
            <a:ext cx="2468880" cy="329184"/>
          </a:xfrm>
          <a:prstGeom prst="rect">
            <a:avLst/>
          </a:prstGeom>
          <a:solidFill>
            <a:srgbClr val="1A1B1C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19933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UUID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29000" y="2368296"/>
            <a:ext cx="2468880" cy="329184"/>
          </a:xfrm>
          <a:prstGeom prst="rect">
            <a:avLst/>
          </a:prstGeom>
          <a:solidFill>
            <a:srgbClr val="131314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23957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session_id text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29000" y="2770632"/>
            <a:ext cx="2468880" cy="329184"/>
          </a:xfrm>
          <a:prstGeom prst="rect">
            <a:avLst/>
          </a:prstGeom>
          <a:solidFill>
            <a:srgbClr val="1A1B1C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279806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text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29000" y="3172968"/>
            <a:ext cx="2468880" cy="329184"/>
          </a:xfrm>
          <a:prstGeom prst="rect">
            <a:avLst/>
          </a:prstGeom>
          <a:solidFill>
            <a:srgbClr val="131314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32004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 text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29000" y="3575304"/>
            <a:ext cx="2468880" cy="329184"/>
          </a:xfrm>
          <a:prstGeom prst="rect">
            <a:avLst/>
          </a:prstGeom>
          <a:solidFill>
            <a:srgbClr val="1A1B1C"/>
          </a:solidFill>
          <a:ln/>
        </p:spPr>
      </p:sp>
      <p:sp>
        <p:nvSpPr>
          <p:cNvPr id="32" name="Text 30"/>
          <p:cNvSpPr/>
          <p:nvPr/>
        </p:nvSpPr>
        <p:spPr>
          <a:xfrm>
            <a:off x="3520440" y="36027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 vector(768)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29000" y="3977640"/>
            <a:ext cx="2468880" cy="329184"/>
          </a:xfrm>
          <a:prstGeom prst="rect">
            <a:avLst/>
          </a:prstGeom>
          <a:solidFill>
            <a:srgbClr val="131314"/>
          </a:solidFill>
          <a:ln/>
        </p:spPr>
      </p:sp>
      <p:sp>
        <p:nvSpPr>
          <p:cNvPr id="34" name="Text 32"/>
          <p:cNvSpPr/>
          <p:nvPr/>
        </p:nvSpPr>
        <p:spPr>
          <a:xfrm>
            <a:off x="3520440" y="40050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 timestamp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17920" y="1143000"/>
            <a:ext cx="2651760" cy="3657600"/>
          </a:xfrm>
          <a:prstGeom prst="rect">
            <a:avLst/>
          </a:prstGeom>
          <a:solidFill>
            <a:srgbClr val="282A2C"/>
          </a:solidFill>
          <a:ln w="6350">
            <a:solidFill>
              <a:srgbClr val="2A2D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1143000"/>
            <a:ext cx="2651760" cy="4572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12618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poems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09360" y="16002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33,600 Classical Arabic poems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09360" y="1965960"/>
            <a:ext cx="2468880" cy="329184"/>
          </a:xfrm>
          <a:prstGeom prst="rect">
            <a:avLst/>
          </a:prstGeom>
          <a:solidFill>
            <a:srgbClr val="1A1B1C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199339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UUID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09360" y="2368296"/>
            <a:ext cx="2468880" cy="329184"/>
          </a:xfrm>
          <a:prstGeom prst="rect">
            <a:avLst/>
          </a:prstGeom>
          <a:solidFill>
            <a:srgbClr val="131314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23957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 / verses / meter text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09360" y="2770632"/>
            <a:ext cx="2468880" cy="329184"/>
          </a:xfrm>
          <a:prstGeom prst="rect">
            <a:avLst/>
          </a:prstGeom>
          <a:solidFill>
            <a:srgbClr val="1A1B1C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0" y="279806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 / poet_name / poet_era text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309360" y="3172968"/>
            <a:ext cx="2468880" cy="329184"/>
          </a:xfrm>
          <a:prstGeom prst="rect">
            <a:avLst/>
          </a:prstGeom>
          <a:solidFill>
            <a:srgbClr val="131314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32004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poet_location text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09360" y="3575304"/>
            <a:ext cx="2468880" cy="329184"/>
          </a:xfrm>
          <a:prstGeom prst="rect">
            <a:avLst/>
          </a:prstGeom>
          <a:solidFill>
            <a:srgbClr val="1A1B1C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0" y="36027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language_type text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309360" y="3977640"/>
            <a:ext cx="2468880" cy="329184"/>
          </a:xfrm>
          <a:prstGeom prst="rect">
            <a:avLst/>
          </a:prstGeom>
          <a:solidFill>
            <a:srgbClr val="131314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0" y="400507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 vector(768)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 use IVFFlat index (lists=100) for fast approximate nearest-neighbor cosine similarity search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Tools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292608"/>
            <a:ext cx="109728" cy="10972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tools registered in tools/__init__.py · all on-premise except RAG tools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2011680" cy="1051560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45720" cy="10515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80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eval · arithmetic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78608" y="1170432"/>
            <a:ext cx="2011680" cy="1051560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78608" y="1170432"/>
            <a:ext cx="45720" cy="10515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1" name="Text 9"/>
          <p:cNvSpPr/>
          <p:nvPr/>
        </p:nvSpPr>
        <p:spPr>
          <a:xfrm>
            <a:off x="2715768" y="1280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hijri tool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15768" y="1645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Umm al-Qura calendar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91456" y="1170432"/>
            <a:ext cx="2011680" cy="1051560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91456" y="1170432"/>
            <a:ext cx="45720" cy="10515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5" name="Text 13"/>
          <p:cNvSpPr/>
          <p:nvPr/>
        </p:nvSpPr>
        <p:spPr>
          <a:xfrm>
            <a:off x="4928616" y="1280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28616" y="1645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 + email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04304" y="1170432"/>
            <a:ext cx="2011680" cy="1051560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04304" y="1170432"/>
            <a:ext cx="45720" cy="10515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9" name="Text 17"/>
          <p:cNvSpPr/>
          <p:nvPr/>
        </p:nvSpPr>
        <p:spPr>
          <a:xfrm>
            <a:off x="7141464" y="12801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41464" y="1645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404872"/>
            <a:ext cx="2011680" cy="1051560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404872"/>
            <a:ext cx="45720" cy="105156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514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 times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Aladhan API · IP auto-detect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78608" y="2404872"/>
            <a:ext cx="2011680" cy="1051560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78608" y="2404872"/>
            <a:ext cx="45720" cy="105156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27" name="Text 25"/>
          <p:cNvSpPr/>
          <p:nvPr/>
        </p:nvSpPr>
        <p:spPr>
          <a:xfrm>
            <a:off x="2715768" y="2514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15768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 · no API key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91456" y="2404872"/>
            <a:ext cx="2011680" cy="1051560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91456" y="2404872"/>
            <a:ext cx="45720" cy="105156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1" name="Text 29"/>
          <p:cNvSpPr/>
          <p:nvPr/>
        </p:nvSpPr>
        <p:spPr>
          <a:xfrm>
            <a:off x="4928616" y="2514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search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28616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RAG · Supabase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004304" y="2404872"/>
            <a:ext cx="2011680" cy="1051560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004304" y="2404872"/>
            <a:ext cx="45720" cy="105156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5" name="Text 33"/>
          <p:cNvSpPr/>
          <p:nvPr/>
        </p:nvSpPr>
        <p:spPr>
          <a:xfrm>
            <a:off x="7141464" y="25146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poem search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41464" y="28803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Poetry RAG · 33.6k poems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639312"/>
            <a:ext cx="2011680" cy="1051560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5760" y="3639312"/>
            <a:ext cx="45720" cy="10515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" y="3749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recall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" y="4114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RAG · semantic search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578608" y="3639312"/>
            <a:ext cx="2011680" cy="1051560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578608" y="3639312"/>
            <a:ext cx="45720" cy="10515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43" name="Text 41"/>
          <p:cNvSpPr/>
          <p:nvPr/>
        </p:nvSpPr>
        <p:spPr>
          <a:xfrm>
            <a:off x="2715768" y="3749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715768" y="4114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recall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91456" y="3639312"/>
            <a:ext cx="2011680" cy="1051560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91456" y="3639312"/>
            <a:ext cx="45720" cy="105156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7" name="Text 45"/>
          <p:cNvSpPr/>
          <p:nvPr/>
        </p:nvSpPr>
        <p:spPr>
          <a:xfrm>
            <a:off x="4928616" y="3749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converter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928616" y="4114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km/mi · kg/lb · °C/°F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004304" y="3639312"/>
            <a:ext cx="2011680" cy="1051560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004304" y="3639312"/>
            <a:ext cx="45720" cy="105156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1" name="Text 49"/>
          <p:cNvSpPr/>
          <p:nvPr/>
        </p:nvSpPr>
        <p:spPr>
          <a:xfrm>
            <a:off x="7141464" y="37490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merge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141464" y="4114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PyPDF2 · file utility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RAG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292608"/>
            <a:ext cx="109728" cy="10972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4114800" cy="4114800"/>
          </a:xfrm>
          <a:prstGeom prst="rect">
            <a:avLst/>
          </a:prstGeom>
          <a:solidFill>
            <a:srgbClr val="282A2C"/>
          </a:solidFill>
          <a:ln w="6350">
            <a:solidFill>
              <a:srgbClr val="2A2D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114800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RAG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questions from uploaded files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73152" cy="7315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7393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PDF / DOCX / TXT / image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212848"/>
            <a:ext cx="73152" cy="7315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5798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E3E3E3"/>
                </a:solidFill>
                <a:latin typeface="Calibri"/>
                <a:ea typeface="Calibri"/>
                <a:cs typeface="Calibri"/>
              </a:rPr>
              <a:t>OCR extracts text (Qianfan)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2596896"/>
            <a:ext cx="73152" cy="7315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420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err="1">
                <a:solidFill>
                  <a:srgbClr val="E3E3E3"/>
                </a:solidFill>
                <a:latin typeface="Calibri"/>
                <a:ea typeface="Calibri"/>
                <a:cs typeface="Calibri"/>
              </a:rPr>
              <a:t>RecursiveCharacterTextSplitter</a:t>
            </a:r>
            <a:r>
              <a:rPr lang="en-US" sz="1100">
                <a:solidFill>
                  <a:srgbClr val="E3E3E3"/>
                </a:solidFill>
                <a:latin typeface="Calibri"/>
                <a:ea typeface="Calibri"/>
                <a:cs typeface="Calibri"/>
              </a:rPr>
              <a:t> — 1500 char chunks, 250 overlap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2980944"/>
            <a:ext cx="73152" cy="7315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9260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Granite embeds all chunks in one batch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364992"/>
            <a:ext cx="73152" cy="7315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31012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Supabase documents table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749040"/>
            <a:ext cx="73152" cy="73152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731046"/>
            <a:ext cx="3722492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E3E3E3"/>
                </a:solidFill>
                <a:latin typeface="Calibri"/>
                <a:ea typeface="Calibri"/>
                <a:cs typeface="Calibri"/>
              </a:rPr>
              <a:t>Query → embed → cosine search → top-20 chunks → agent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937760" y="914400"/>
            <a:ext cx="4114800" cy="4114800"/>
          </a:xfrm>
          <a:prstGeom prst="rect">
            <a:avLst/>
          </a:prstGeom>
          <a:solidFill>
            <a:srgbClr val="282A2C"/>
          </a:solidFill>
          <a:ln w="6350">
            <a:solidFill>
              <a:srgbClr val="2A2D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914400"/>
            <a:ext cx="4114800" cy="457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10241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RAG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74920" y="1389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Recalls past conversations semantically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20640" y="1828800"/>
            <a:ext cx="73152" cy="7315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177393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conversation turn saved automatically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20640" y="2212848"/>
            <a:ext cx="73152" cy="7315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0" y="215798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Granite embeds user + assistant messages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20640" y="2596896"/>
            <a:ext cx="73152" cy="7315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0" y="25420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Supabase chat_memory (with session_id filter)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20640" y="2980944"/>
            <a:ext cx="73152" cy="7315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0" y="29260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each response: query embedded → similarity search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20640" y="3364992"/>
            <a:ext cx="73152" cy="7315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33" name="Text 31"/>
          <p:cNvSpPr/>
          <p:nvPr/>
        </p:nvSpPr>
        <p:spPr>
          <a:xfrm>
            <a:off x="5303520" y="331012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relevant past turns injected as context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20640" y="3749040"/>
            <a:ext cx="73152" cy="7315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0" y="369417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can recall context even after session restart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RAG systems use the same IBM Granite model — loaded once, shared in memory, thread-locked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Poetry Feature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292608"/>
            <a:ext cx="109728" cy="10972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4124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dirty="0">
                <a:solidFill>
                  <a:srgbClr val="FBBC0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33,600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Arabic poems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76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فصيح only · arbml/ashaar dataset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841248"/>
            <a:ext cx="4297680" cy="1645920"/>
          </a:xfrm>
          <a:prstGeom prst="rect">
            <a:avLst/>
          </a:prstGeom>
          <a:solidFill>
            <a:srgbClr val="282A2C"/>
          </a:solidFill>
          <a:ln w="6350">
            <a:solidFill>
              <a:srgbClr val="2A2D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73152" cy="73152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27101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255,722 poems loaded from HuggingFace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673352"/>
            <a:ext cx="73152" cy="73152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61848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E3E3E3"/>
                </a:solidFill>
                <a:ea typeface="Calibri"/>
                <a:cs typeface="Calibri"/>
              </a:rPr>
              <a:t>Only "</a:t>
            </a:r>
            <a:r>
              <a:rPr lang="en-US" sz="1100" dirty="0" err="1">
                <a:solidFill>
                  <a:srgbClr val="E3E3E3"/>
                </a:solidFill>
                <a:ea typeface="Calibri"/>
                <a:cs typeface="Calibri"/>
              </a:rPr>
              <a:t>فصيح</a:t>
            </a:r>
            <a:r>
              <a:rPr lang="en-US" sz="1100" dirty="0">
                <a:solidFill>
                  <a:srgbClr val="E3E3E3"/>
                </a:solidFill>
                <a:ea typeface="Calibri"/>
                <a:cs typeface="Calibri"/>
              </a:rPr>
              <a:t>" poems were included</a:t>
            </a:r>
            <a:endParaRPr lang="en-US" sz="1100" dirty="0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US" sz="1100" dirty="0">
              <a:solidFill>
                <a:srgbClr val="E3E3E3"/>
              </a:solidFill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0" y="2020824"/>
            <a:ext cx="73152" cy="73152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9659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3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sampling to fit 500MB budget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368296"/>
            <a:ext cx="73152" cy="73152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3134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3E3E3"/>
                </a:solidFill>
                <a:latin typeface="Calibri"/>
                <a:ea typeface="Calibri"/>
                <a:cs typeface="Calibri"/>
              </a:rPr>
              <a:t>Embedded on Google </a:t>
            </a:r>
            <a:r>
              <a:rPr lang="en-US" sz="1100" dirty="0" err="1">
                <a:solidFill>
                  <a:srgbClr val="E3E3E3"/>
                </a:solidFill>
                <a:latin typeface="Calibri"/>
                <a:ea typeface="Calibri"/>
                <a:cs typeface="Calibri"/>
              </a:rPr>
              <a:t>Colab</a:t>
            </a:r>
            <a:r>
              <a:rPr lang="en-US" sz="1100" dirty="0">
                <a:solidFill>
                  <a:srgbClr val="E3E3E3"/>
                </a:solidFill>
                <a:latin typeface="Calibri"/>
                <a:ea typeface="Calibri"/>
                <a:cs typeface="Calibri"/>
              </a:rPr>
              <a:t> T4 GPU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metadata per poem: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2606040" cy="310896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369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3E3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poem title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3200400"/>
            <a:ext cx="2606040" cy="310896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32369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3E3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poem verses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3200400"/>
            <a:ext cx="2606040" cy="310896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2369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3E3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meter (بحر)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584448"/>
            <a:ext cx="2606040" cy="310896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6210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3E3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3584448"/>
            <a:ext cx="2606040" cy="310896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6210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3E3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poet name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3584448"/>
            <a:ext cx="2606040" cy="310896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6210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3E3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poet era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968496"/>
            <a:ext cx="2606040" cy="310896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0050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3E3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poet location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3968496"/>
            <a:ext cx="2606040" cy="310896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40050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3E3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 type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3968496"/>
            <a:ext cx="2606040" cy="310896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40050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3E3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 vector(768)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1A2A1A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526280"/>
            <a:ext cx="45720" cy="4114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45720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E3E3E3"/>
                </a:solidFill>
                <a:latin typeface="Calibri"/>
                <a:ea typeface="Calibri"/>
                <a:cs typeface="Calibri"/>
              </a:rPr>
              <a:t>Poem mode: when a user writes a poem, the agent searches for semantically similar poems, then answer's the user with poems that complements the provided poem</a:t>
            </a:r>
            <a:endParaRPr lang="en-US" sz="1100" dirty="0">
              <a:solidFill>
                <a:srgbClr val="E3E3E3"/>
              </a:solidFill>
              <a:ea typeface="Calibri"/>
              <a:cs typeface="Calibri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Frontend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292608"/>
            <a:ext cx="109728" cy="10972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9AA0A6"/>
                </a:solidFill>
                <a:latin typeface="Calibri"/>
                <a:ea typeface="Calibri"/>
                <a:cs typeface="Calibri"/>
              </a:rPr>
              <a:t> vanilla HTML/CSS/JS · RTL Arabic layout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3749040"/>
          </a:xfrm>
          <a:prstGeom prst="rect">
            <a:avLst/>
          </a:prstGeom>
          <a:solidFill>
            <a:srgbClr val="0D0D0F"/>
          </a:solidFill>
          <a:ln w="6350">
            <a:solidFill>
              <a:srgbClr val="2A2D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1188720" cy="3749040"/>
          </a:xfrm>
          <a:prstGeom prst="rect">
            <a:avLst/>
          </a:prstGeom>
          <a:solidFill>
            <a:srgbClr val="1E1F20"/>
          </a:solidFill>
          <a:ln w="3810">
            <a:solidFill>
              <a:srgbClr val="2A2D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070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AB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ساعد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1005840" cy="457200"/>
          </a:xfrm>
          <a:prstGeom prst="rect">
            <a:avLst/>
          </a:prstGeom>
          <a:solidFill>
            <a:srgbClr val="282A2C"/>
          </a:solidFill>
          <a:ln w="3810">
            <a:solidFill>
              <a:srgbClr val="2A2D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007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85216" y="2121408"/>
            <a:ext cx="73152" cy="7315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084832"/>
            <a:ext cx="868680" cy="128016"/>
          </a:xfrm>
          <a:prstGeom prst="rect">
            <a:avLst/>
          </a:prstGeom>
          <a:solidFill>
            <a:srgbClr val="2A2D30"/>
          </a:solidFill>
          <a:ln/>
        </p:spPr>
      </p:sp>
      <p:sp>
        <p:nvSpPr>
          <p:cNvPr id="12" name="Shape 10"/>
          <p:cNvSpPr/>
          <p:nvPr/>
        </p:nvSpPr>
        <p:spPr>
          <a:xfrm>
            <a:off x="585216" y="2322576"/>
            <a:ext cx="73152" cy="7315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286000"/>
            <a:ext cx="868680" cy="128016"/>
          </a:xfrm>
          <a:prstGeom prst="rect">
            <a:avLst/>
          </a:prstGeom>
          <a:solidFill>
            <a:srgbClr val="2A2D30"/>
          </a:solidFill>
          <a:ln/>
        </p:spPr>
      </p:sp>
      <p:sp>
        <p:nvSpPr>
          <p:cNvPr id="14" name="Shape 12"/>
          <p:cNvSpPr/>
          <p:nvPr/>
        </p:nvSpPr>
        <p:spPr>
          <a:xfrm>
            <a:off x="585216" y="2523744"/>
            <a:ext cx="73152" cy="73152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487168"/>
            <a:ext cx="868680" cy="128016"/>
          </a:xfrm>
          <a:prstGeom prst="rect">
            <a:avLst/>
          </a:prstGeom>
          <a:solidFill>
            <a:srgbClr val="2A2D30"/>
          </a:solidFill>
          <a:ln/>
        </p:spPr>
      </p:sp>
      <p:sp>
        <p:nvSpPr>
          <p:cNvPr id="16" name="Shape 14"/>
          <p:cNvSpPr/>
          <p:nvPr/>
        </p:nvSpPr>
        <p:spPr>
          <a:xfrm>
            <a:off x="1737360" y="1371600"/>
            <a:ext cx="2606040" cy="73152"/>
          </a:xfrm>
          <a:prstGeom prst="rect">
            <a:avLst/>
          </a:prstGeom>
          <a:solidFill>
            <a:srgbClr val="2A2D30"/>
          </a:solidFill>
          <a:ln/>
        </p:spPr>
      </p:sp>
      <p:sp>
        <p:nvSpPr>
          <p:cNvPr id="17" name="Shape 15"/>
          <p:cNvSpPr/>
          <p:nvPr/>
        </p:nvSpPr>
        <p:spPr>
          <a:xfrm>
            <a:off x="1737360" y="1517904"/>
            <a:ext cx="2377440" cy="73152"/>
          </a:xfrm>
          <a:prstGeom prst="rect">
            <a:avLst/>
          </a:prstGeom>
          <a:solidFill>
            <a:srgbClr val="2A2D30"/>
          </a:solidFill>
          <a:ln/>
        </p:spPr>
      </p:sp>
      <p:sp>
        <p:nvSpPr>
          <p:cNvPr id="18" name="Shape 16"/>
          <p:cNvSpPr/>
          <p:nvPr/>
        </p:nvSpPr>
        <p:spPr>
          <a:xfrm>
            <a:off x="1737360" y="1664208"/>
            <a:ext cx="2011680" cy="73152"/>
          </a:xfrm>
          <a:prstGeom prst="rect">
            <a:avLst/>
          </a:prstGeom>
          <a:solidFill>
            <a:srgbClr val="2A2D30"/>
          </a:solidFill>
          <a:ln/>
        </p:spPr>
      </p:sp>
      <p:sp>
        <p:nvSpPr>
          <p:cNvPr id="19" name="Shape 17"/>
          <p:cNvSpPr/>
          <p:nvPr/>
        </p:nvSpPr>
        <p:spPr>
          <a:xfrm>
            <a:off x="2651760" y="2011680"/>
            <a:ext cx="1645920" cy="320040"/>
          </a:xfrm>
          <a:prstGeom prst="rect">
            <a:avLst/>
          </a:prstGeom>
          <a:solidFill>
            <a:srgbClr val="1E3A5F"/>
          </a:solidFill>
          <a:ln w="3810">
            <a:solidFill>
              <a:srgbClr val="1E4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97480" y="207568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C2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كيف حالك؟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737360" y="2514600"/>
            <a:ext cx="2606040" cy="73152"/>
          </a:xfrm>
          <a:prstGeom prst="rect">
            <a:avLst/>
          </a:prstGeom>
          <a:solidFill>
            <a:srgbClr val="2A2D30"/>
          </a:solidFill>
          <a:ln/>
        </p:spPr>
      </p:sp>
      <p:sp>
        <p:nvSpPr>
          <p:cNvPr id="22" name="Shape 20"/>
          <p:cNvSpPr/>
          <p:nvPr/>
        </p:nvSpPr>
        <p:spPr>
          <a:xfrm>
            <a:off x="1737360" y="2660904"/>
            <a:ext cx="2194560" cy="73152"/>
          </a:xfrm>
          <a:prstGeom prst="rect">
            <a:avLst/>
          </a:prstGeom>
          <a:solidFill>
            <a:srgbClr val="2A2D30"/>
          </a:solidFill>
          <a:ln/>
        </p:spPr>
      </p:sp>
      <p:sp>
        <p:nvSpPr>
          <p:cNvPr id="23" name="Shape 21"/>
          <p:cNvSpPr/>
          <p:nvPr/>
        </p:nvSpPr>
        <p:spPr>
          <a:xfrm>
            <a:off x="1719072" y="4343400"/>
            <a:ext cx="2651760" cy="347472"/>
          </a:xfrm>
          <a:prstGeom prst="rect">
            <a:avLst/>
          </a:prstGeom>
          <a:solidFill>
            <a:srgbClr val="282A2C"/>
          </a:solidFill>
          <a:ln w="3810">
            <a:solidFill>
              <a:srgbClr val="2A2D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23360" y="4407408"/>
            <a:ext cx="256032" cy="256032"/>
          </a:xfrm>
          <a:prstGeom prst="ellipse">
            <a:avLst/>
          </a:prstGeom>
          <a:solidFill>
            <a:srgbClr val="8AB4F8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1097280"/>
            <a:ext cx="1920240" cy="804672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1097280"/>
            <a:ext cx="45720" cy="80467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11704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agent reply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92040" y="14813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>
                <a:solidFill>
                  <a:srgbClr val="9AA0A6"/>
                </a:solidFill>
                <a:latin typeface="Calibri"/>
                <a:ea typeface="Calibri"/>
                <a:cs typeface="Calibri"/>
              </a:rPr>
              <a:t>Agent replies as plain text</a:t>
            </a:r>
          </a:p>
        </p:txBody>
      </p:sp>
      <p:sp>
        <p:nvSpPr>
          <p:cNvPr id="29" name="Shape 27"/>
          <p:cNvSpPr/>
          <p:nvPr/>
        </p:nvSpPr>
        <p:spPr>
          <a:xfrm>
            <a:off x="6903720" y="1097280"/>
            <a:ext cx="1920240" cy="804672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03720" y="1097280"/>
            <a:ext cx="45720" cy="80467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1" name="Text 29"/>
          <p:cNvSpPr/>
          <p:nvPr/>
        </p:nvSpPr>
        <p:spPr>
          <a:xfrm>
            <a:off x="7040880" y="11704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bubble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0880" y="14813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Blue-tinted RTL bubble aligned right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2057400"/>
            <a:ext cx="1920240" cy="804672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2057400"/>
            <a:ext cx="45720" cy="80467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21305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icon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24414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4-color Google gem as agent avatar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903720" y="2057400"/>
            <a:ext cx="1920240" cy="804672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03720" y="2057400"/>
            <a:ext cx="45720" cy="80467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9" name="Text 37"/>
          <p:cNvSpPr/>
          <p:nvPr/>
        </p:nvSpPr>
        <p:spPr>
          <a:xfrm>
            <a:off x="7040880" y="21305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upload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040880" y="24414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with progress bar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3017520"/>
            <a:ext cx="1920240" cy="804672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3017520"/>
            <a:ext cx="45720" cy="804672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3" name="Text 41"/>
          <p:cNvSpPr/>
          <p:nvPr/>
        </p:nvSpPr>
        <p:spPr>
          <a:xfrm>
            <a:off x="4892040" y="30906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92040" y="340156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SSE-based real-time response rendering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903720" y="3017520"/>
            <a:ext cx="1920240" cy="804672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03720" y="3017520"/>
            <a:ext cx="45720" cy="804672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7" name="Text 45"/>
          <p:cNvSpPr/>
          <p:nvPr/>
        </p:nvSpPr>
        <p:spPr>
          <a:xfrm>
            <a:off x="7040880" y="30906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dots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040880" y="340156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wave dots while agent processes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54880" y="3977640"/>
            <a:ext cx="1920240" cy="804672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0" y="3977640"/>
            <a:ext cx="45720" cy="80467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1" name="Text 49"/>
          <p:cNvSpPr/>
          <p:nvPr/>
        </p:nvSpPr>
        <p:spPr>
          <a:xfrm>
            <a:off x="4892040" y="40507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92040" y="436168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Quick-start prompt pills on welcome screen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903720" y="3977640"/>
            <a:ext cx="1920240" cy="804672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903720" y="3977640"/>
            <a:ext cx="45720" cy="80467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5" name="Text 53"/>
          <p:cNvSpPr/>
          <p:nvPr/>
        </p:nvSpPr>
        <p:spPr>
          <a:xfrm>
            <a:off x="7040880" y="40507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status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040880" y="436168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dot showing connection state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Deployment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292608"/>
            <a:ext cx="109728" cy="10972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terminals · all from Agent_project/ root directory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1051560"/>
          </a:xfrm>
          <a:prstGeom prst="rect">
            <a:avLst/>
          </a:prstGeom>
          <a:solidFill>
            <a:srgbClr val="282A2C"/>
          </a:solidFill>
          <a:ln w="6350">
            <a:solidFill>
              <a:srgbClr val="2A2D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105156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4285F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API Server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642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adk api_server "C:\...\Agent_project" --allow_origins="*"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55080" y="1280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agent as REST + SSE API on port 8000. Handles sessions, tool routing, and streaming responses.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282A2C"/>
          </a:solidFill>
          <a:ln w="6350">
            <a:solidFill>
              <a:srgbClr val="2A2D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23160"/>
            <a:ext cx="54864" cy="10515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146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34A85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Server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8986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upload_server.py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2514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server on port 5000. Receives file uploads from the frontend, runs RAG ingestion pipeline.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282A2C"/>
          </a:solidFill>
          <a:ln w="6350">
            <a:solidFill>
              <a:srgbClr val="2A2D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657600"/>
            <a:ext cx="54864" cy="105156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7490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FBBC0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3444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Server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1330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http.server 3000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3749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index.html on port 3000. Open http://localhost:3000 in the browser to use the chat UI.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818888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Granite loads once on startup · cached locally by Sentence Transformers · no internet needed after first download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1E20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548640"/>
            <a:ext cx="1280160" cy="640080"/>
          </a:xfrm>
          <a:prstGeom prst="triangle">
            <a:avLst/>
          </a:prstGeom>
          <a:solidFill>
            <a:srgbClr val="4285F4"/>
          </a:solidFill>
          <a:ln/>
        </p:spPr>
      </p:sp>
      <p:sp>
        <p:nvSpPr>
          <p:cNvPr id="20" name="Shape 18"/>
          <p:cNvSpPr/>
          <p:nvPr/>
        </p:nvSpPr>
        <p:spPr>
          <a:xfrm rot="5400000">
            <a:off x="4572000" y="548640"/>
            <a:ext cx="640080" cy="1280160"/>
          </a:xfrm>
          <a:prstGeom prst="triangle">
            <a:avLst/>
          </a:prstGeom>
          <a:solidFill>
            <a:srgbClr val="34A853"/>
          </a:solidFill>
          <a:ln/>
        </p:spPr>
      </p:sp>
      <p:sp>
        <p:nvSpPr>
          <p:cNvPr id="21" name="Shape 19"/>
          <p:cNvSpPr/>
          <p:nvPr/>
        </p:nvSpPr>
        <p:spPr>
          <a:xfrm rot="10800000">
            <a:off x="3931920" y="1188720"/>
            <a:ext cx="1280160" cy="640080"/>
          </a:xfrm>
          <a:prstGeom prst="triangle">
            <a:avLst/>
          </a:prstGeom>
          <a:solidFill>
            <a:srgbClr val="FBBC04"/>
          </a:solidFill>
          <a:ln/>
        </p:spPr>
      </p:sp>
      <p:sp>
        <p:nvSpPr>
          <p:cNvPr id="22" name="Shape 20"/>
          <p:cNvSpPr/>
          <p:nvPr/>
        </p:nvSpPr>
        <p:spPr>
          <a:xfrm rot="16200000">
            <a:off x="3931920" y="548640"/>
            <a:ext cx="640080" cy="1280160"/>
          </a:xfrm>
          <a:prstGeom prst="triangle">
            <a:avLst/>
          </a:prstGeom>
          <a:solidFill>
            <a:srgbClr val="EA433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kern="0" spc="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24" name="Shape 22"/>
          <p:cNvSpPr/>
          <p:nvPr/>
        </p:nvSpPr>
        <p:spPr>
          <a:xfrm>
            <a:off x="1143000" y="2944368"/>
            <a:ext cx="1645920" cy="365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5" name="Shape 23"/>
          <p:cNvSpPr/>
          <p:nvPr/>
        </p:nvSpPr>
        <p:spPr>
          <a:xfrm>
            <a:off x="2971800" y="2944368"/>
            <a:ext cx="1645920" cy="365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6" name="Shape 24"/>
          <p:cNvSpPr/>
          <p:nvPr/>
        </p:nvSpPr>
        <p:spPr>
          <a:xfrm>
            <a:off x="4800600" y="2944368"/>
            <a:ext cx="1645920" cy="3657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27" name="Shape 25"/>
          <p:cNvSpPr/>
          <p:nvPr/>
        </p:nvSpPr>
        <p:spPr>
          <a:xfrm>
            <a:off x="6629400" y="2944368"/>
            <a:ext cx="1645920" cy="3657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28" name="Shape 26"/>
          <p:cNvSpPr/>
          <p:nvPr/>
        </p:nvSpPr>
        <p:spPr>
          <a:xfrm>
            <a:off x="964131" y="3200400"/>
            <a:ext cx="3200400" cy="1188720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828800" y="3661049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Hashim Alhasani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828800" y="369417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100" dirty="0">
              <a:solidFill>
                <a:srgbClr val="9AA0A6"/>
              </a:solidFill>
              <a:ea typeface="Calibri"/>
              <a:cs typeface="Calibri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982678" y="3200400"/>
            <a:ext cx="3200400" cy="1188720"/>
          </a:xfrm>
          <a:prstGeom prst="rect">
            <a:avLst/>
          </a:prstGeom>
          <a:solidFill>
            <a:srgbClr val="1E1F20"/>
          </a:solidFill>
          <a:ln w="6350">
            <a:solidFill>
              <a:srgbClr val="2A2D3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897479" y="3661049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Abdullah </a:t>
            </a: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Alqahtani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0" y="369417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100" dirty="0">
              <a:solidFill>
                <a:srgbClr val="9AA0A6"/>
              </a:solidFill>
              <a:ea typeface="Calibri"/>
              <a:cs typeface="Calibri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Google ADK · OpenRouter · Supabase · IBM Granite · Python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50392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عرض على الشاشة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12</vt:i4>
      </vt:variant>
    </vt:vector>
  </HeadingPairs>
  <TitlesOfParts>
    <vt:vector size="13" baseType="lpstr"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Saied — Arabic AI Agent</dc:title>
  <dc:subject>PptxGenJS Presentation</dc:subject>
  <dc:creator>Hashim Alhasani &amp; Abdullah</dc:creator>
  <cp:lastModifiedBy>Hashim Alhasani &amp; Abdullah</cp:lastModifiedBy>
  <cp:revision>47</cp:revision>
  <dcterms:created xsi:type="dcterms:W3CDTF">2026-05-14T12:07:08Z</dcterms:created>
  <dcterms:modified xsi:type="dcterms:W3CDTF">2026-05-14T12:27:26Z</dcterms:modified>
</cp:coreProperties>
</file>